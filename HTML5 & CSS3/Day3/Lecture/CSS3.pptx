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B98A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937760" cy="4937760"/>
          </a:xfrm>
          <a:prstGeom prst="ellipse">
            <a:avLst/>
          </a:prstGeom>
          <a:solidFill>
            <a:srgbClr val="F4A261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1005840" cy="1005840"/>
          </a:xfrm>
          <a:prstGeom prst="ellipse">
            <a:avLst/>
          </a:prstGeom>
          <a:solidFill>
            <a:srgbClr val="1B98A0"/>
          </a:solidFill>
          <a:ln/>
        </p:spPr>
      </p:sp>
      <p:pic>
        <p:nvPicPr>
          <p:cNvPr id="5" name="Image 0" descr="icons/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115580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&amp; CSS3</a:t>
            </a:r>
            <a:endParaRPr lang="en-US" sz="4600" dirty="0"/>
          </a:p>
        </p:txBody>
      </p:sp>
      <p:sp>
        <p:nvSpPr>
          <p:cNvPr id="7" name="Shape 4"/>
          <p:cNvSpPr/>
          <p:nvPr/>
        </p:nvSpPr>
        <p:spPr>
          <a:xfrm>
            <a:off x="868680" y="3337560"/>
            <a:ext cx="2377440" cy="8229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520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3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4343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tour of modern styling: borders, fonts, transforms,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transitions, animations, and multi-column layout.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CSS3?</a:t>
            </a:r>
            <a:endParaRPr lang="en-US" sz="3000" dirty="0"/>
          </a:p>
        </p:txBody>
      </p:sp>
      <p:pic>
        <p:nvPicPr>
          <p:cNvPr id="5" name="Image 0" descr="icons/puzzle_F4A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59436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is completely backwards compatible, so you will not have to change existing designs. Browsers will always support CSS2.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CSS3 specification is still under development by W3C. However, many of the new CSS3 properties have already been implemented in modern browsers.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■"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Modules: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is split up into "modules." The old specification has been split into smaller pieces, and new ones have also been added.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766560" y="1417320"/>
            <a:ext cx="25146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76288" y="1618488"/>
            <a:ext cx="164592" cy="164592"/>
          </a:xfrm>
          <a:prstGeom prst="ellipse">
            <a:avLst/>
          </a:prstGeom>
          <a:solidFill>
            <a:srgbClr val="1B98A0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0" y="14173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409176" y="1417320"/>
            <a:ext cx="25146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18904" y="1618488"/>
            <a:ext cx="164592" cy="164592"/>
          </a:xfrm>
          <a:prstGeom prst="ellipse">
            <a:avLst/>
          </a:prstGeom>
          <a:solidFill>
            <a:srgbClr val="1B98A0"/>
          </a:solidFill>
          <a:ln/>
        </p:spPr>
      </p:sp>
      <p:sp>
        <p:nvSpPr>
          <p:cNvPr id="13" name="Text 10"/>
          <p:cNvSpPr/>
          <p:nvPr/>
        </p:nvSpPr>
        <p:spPr>
          <a:xfrm>
            <a:off x="9774936" y="14173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766560" y="2112264"/>
            <a:ext cx="25146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76288" y="2313432"/>
            <a:ext cx="164592" cy="164592"/>
          </a:xfrm>
          <a:prstGeom prst="ellipse">
            <a:avLst/>
          </a:prstGeom>
          <a:solidFill>
            <a:srgbClr val="1B98A0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0" y="211226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Backgrounds &amp; Borders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409176" y="2112264"/>
            <a:ext cx="25146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18904" y="2313432"/>
            <a:ext cx="164592" cy="164592"/>
          </a:xfrm>
          <a:prstGeom prst="ellipse">
            <a:avLst/>
          </a:prstGeom>
          <a:solidFill>
            <a:srgbClr val="1B98A0"/>
          </a:solidFill>
          <a:ln/>
        </p:spPr>
      </p:sp>
      <p:sp>
        <p:nvSpPr>
          <p:cNvPr id="19" name="Text 16"/>
          <p:cNvSpPr/>
          <p:nvPr/>
        </p:nvSpPr>
        <p:spPr>
          <a:xfrm>
            <a:off x="9774936" y="211226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Effects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766560" y="2807208"/>
            <a:ext cx="25146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76288" y="3008376"/>
            <a:ext cx="164592" cy="164592"/>
          </a:xfrm>
          <a:prstGeom prst="ellipse">
            <a:avLst/>
          </a:prstGeom>
          <a:solidFill>
            <a:srgbClr val="1B98A0"/>
          </a:solidFill>
          <a:ln/>
        </p:spPr>
      </p:sp>
      <p:sp>
        <p:nvSpPr>
          <p:cNvPr id="22" name="Text 19"/>
          <p:cNvSpPr/>
          <p:nvPr/>
        </p:nvSpPr>
        <p:spPr>
          <a:xfrm>
            <a:off x="7132320" y="28072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2D/3D Transforms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409176" y="2807208"/>
            <a:ext cx="25146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518904" y="3008376"/>
            <a:ext cx="164592" cy="164592"/>
          </a:xfrm>
          <a:prstGeom prst="ellipse">
            <a:avLst/>
          </a:prstGeom>
          <a:solidFill>
            <a:srgbClr val="1B98A0"/>
          </a:solidFill>
          <a:ln/>
        </p:spPr>
      </p:sp>
      <p:sp>
        <p:nvSpPr>
          <p:cNvPr id="25" name="Text 22"/>
          <p:cNvSpPr/>
          <p:nvPr/>
        </p:nvSpPr>
        <p:spPr>
          <a:xfrm>
            <a:off x="9774936" y="28072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766560" y="3502152"/>
            <a:ext cx="25146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76288" y="3703320"/>
            <a:ext cx="164592" cy="164592"/>
          </a:xfrm>
          <a:prstGeom prst="ellipse">
            <a:avLst/>
          </a:prstGeom>
          <a:solidFill>
            <a:srgbClr val="1B98A0"/>
          </a:solidFill>
          <a:ln/>
        </p:spPr>
      </p:sp>
      <p:sp>
        <p:nvSpPr>
          <p:cNvPr id="28" name="Text 25"/>
          <p:cNvSpPr/>
          <p:nvPr/>
        </p:nvSpPr>
        <p:spPr>
          <a:xfrm>
            <a:off x="7132320" y="350215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Multi-Column Layout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9409176" y="3502152"/>
            <a:ext cx="25146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518904" y="3703320"/>
            <a:ext cx="164592" cy="164592"/>
          </a:xfrm>
          <a:prstGeom prst="ellipse">
            <a:avLst/>
          </a:prstGeom>
          <a:solidFill>
            <a:srgbClr val="1B98A0"/>
          </a:solidFill>
          <a:ln/>
        </p:spPr>
      </p:sp>
      <p:sp>
        <p:nvSpPr>
          <p:cNvPr id="31" name="Text 28"/>
          <p:cNvSpPr/>
          <p:nvPr/>
        </p:nvSpPr>
        <p:spPr>
          <a:xfrm>
            <a:off x="9774936" y="350215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Vendor Prefixes</a:t>
            </a:r>
            <a:endParaRPr lang="en-US" sz="3000" dirty="0"/>
          </a:p>
        </p:txBody>
      </p:sp>
      <p:pic>
        <p:nvPicPr>
          <p:cNvPr id="5" name="Image 0" descr="icons/globe_F4A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browser makers add their own prefix while a CSS3 feature is experimental.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630936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3154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-moz-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Mozilla Foundation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-ms-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 Software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-webkit-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Safari and Chrome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178040" y="2103120"/>
            <a:ext cx="4480560" cy="2468880"/>
          </a:xfrm>
          <a:prstGeom prst="roundRect">
            <a:avLst>
              <a:gd name="adj" fmla="val 2963"/>
            </a:avLst>
          </a:prstGeom>
          <a:solidFill>
            <a:srgbClr val="0D1B2A"/>
          </a:solidFill>
          <a:ln w="12700">
            <a:solidFill>
              <a:srgbClr val="1B98A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06640" y="228600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vendor-prefixed example */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 {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-webkit-transform: rotate(8deg);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-moz-transform: rotate(8deg);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-ms-transform: rotate(8deg);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-o-transform: rotate(8deg);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 rotate(8deg);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178040" y="4663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example • Reference: w3schools.com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Model</a:t>
            </a:r>
            <a:endParaRPr lang="en-US" sz="3000" dirty="0"/>
          </a:p>
        </p:txBody>
      </p:sp>
      <p:pic>
        <p:nvPicPr>
          <p:cNvPr id="5" name="Image 0" descr="icons/layers_F4A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HTML elements can be considered as boxes.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Model allows us to place a border around elements and space elements in relation to other elements.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■"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Model consists of: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Borders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content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Model — Visualized</a:t>
            </a:r>
            <a:endParaRPr lang="en-US" sz="3000" dirty="0"/>
          </a:p>
        </p:txBody>
      </p:sp>
      <p:pic>
        <p:nvPicPr>
          <p:cNvPr id="5" name="Image 0" descr="icons/layers_F4A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91840" y="1554480"/>
            <a:ext cx="5669280" cy="4206240"/>
          </a:xfrm>
          <a:prstGeom prst="rect">
            <a:avLst/>
          </a:prstGeom>
          <a:solidFill>
            <a:srgbClr val="FCEEE3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29000" y="1627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794760" y="2057400"/>
            <a:ext cx="4663440" cy="3200400"/>
          </a:xfrm>
          <a:prstGeom prst="rect">
            <a:avLst/>
          </a:prstGeom>
          <a:solidFill>
            <a:srgbClr val="E4F3F2"/>
          </a:solidFill>
          <a:ln w="19050">
            <a:solidFill>
              <a:srgbClr val="1B98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0" y="2121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2560320"/>
            <a:ext cx="3657600" cy="2194560"/>
          </a:xfrm>
          <a:prstGeom prst="rect">
            <a:avLst/>
          </a:prstGeom>
          <a:solidFill>
            <a:srgbClr val="F7F9FB"/>
          </a:solidFill>
          <a:ln w="15240">
            <a:solidFill>
              <a:srgbClr val="5B6B7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34840" y="26151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00600" y="3108960"/>
            <a:ext cx="2651760" cy="11887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Text 11"/>
          <p:cNvSpPr/>
          <p:nvPr/>
        </p:nvSpPr>
        <p:spPr>
          <a:xfrm>
            <a:off x="4800600" y="31089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48640" y="219456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space outside the border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5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line around the padding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space around the content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 Borders</a:t>
            </a:r>
            <a:endParaRPr lang="en-US" sz="3000" dirty="0"/>
          </a:p>
        </p:txBody>
      </p:sp>
      <p:pic>
        <p:nvPicPr>
          <p:cNvPr id="5" name="Image 0" descr="icons/border_F4A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CSS3, you can create rounded borders, add shadow to boxes, and use an image as a border — without using a design program like Photoshop.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6675120" cy="914400"/>
        </p:xfrm>
        <a:graphic>
          <a:graphicData uri="http://schemas.openxmlformats.org/drawingml/2006/table">
            <a:tbl>
              <a:tblPr/>
              <a:tblGrid>
                <a:gridCol w="1112520"/>
                <a:gridCol w="1112520"/>
                <a:gridCol w="1112520"/>
                <a:gridCol w="1112520"/>
                <a:gridCol w="1112520"/>
                <a:gridCol w="1112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Firefox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Safari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border-radius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box-shadow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border-image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-webkit-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-webkit-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498080" y="228600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0D1B2A"/>
          </a:solidFill>
          <a:ln w="12700">
            <a:solidFill>
              <a:srgbClr val="1B98A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26680" y="24688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12px;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2px 2px 8px #888;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49808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example • Reference: w3schools.com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 Fonts</a:t>
            </a:r>
            <a:endParaRPr lang="en-US" sz="3000" dirty="0"/>
          </a:p>
        </p:txBody>
      </p:sp>
      <p:pic>
        <p:nvPicPr>
          <p:cNvPr id="5" name="Image 0" descr="icons/font_F4A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5394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CSS3, web designers had to use fonts that were already installed on the user's computer.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CSS3, web designers can use whatever font he/she likes.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font file on your web server, and it will be automatically downloaded to the user when needed.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"own" fonts are defined with the CSS3 @font-face rule.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7220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0D1B2A"/>
          </a:solidFill>
          <a:ln w="12700">
            <a:solidFill>
              <a:srgbClr val="1B98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164592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@font-face {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myFirstFont;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src: url('Sansation_Light.ttf'),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url('Sansation_Light.eot');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{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myFirstFont;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 Measurement Units</a:t>
            </a:r>
            <a:endParaRPr lang="en-US" sz="3000" dirty="0"/>
          </a:p>
        </p:txBody>
      </p:sp>
      <p:pic>
        <p:nvPicPr>
          <p:cNvPr id="5" name="Image 0" descr="icons/ruler_F4A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5661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463040"/>
            <a:ext cx="356616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63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Measurements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488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inches (in)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(pt)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43400" y="1463040"/>
            <a:ext cx="35661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3400" y="1463040"/>
            <a:ext cx="3566160" cy="502920"/>
          </a:xfrm>
          <a:prstGeom prst="rect">
            <a:avLst/>
          </a:prstGeom>
          <a:solidFill>
            <a:srgbClr val="1B98A0"/>
          </a:solidFill>
          <a:ln/>
        </p:spPr>
      </p:sp>
      <p:sp>
        <p:nvSpPr>
          <p:cNvPr id="13" name="Text 10"/>
          <p:cNvSpPr/>
          <p:nvPr/>
        </p:nvSpPr>
        <p:spPr>
          <a:xfrm>
            <a:off x="4343400" y="1463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Measurements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617720" y="21488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(px)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138160" y="1463040"/>
            <a:ext cx="35661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38160" y="1463040"/>
            <a:ext cx="3566160" cy="502920"/>
          </a:xfrm>
          <a:prstGeom prst="rect">
            <a:avLst/>
          </a:prstGeom>
          <a:solidFill>
            <a:srgbClr val="6C8EBF"/>
          </a:solidFill>
          <a:ln/>
        </p:spPr>
      </p:sp>
      <p:sp>
        <p:nvSpPr>
          <p:cNvPr id="17" name="Text 14"/>
          <p:cNvSpPr/>
          <p:nvPr/>
        </p:nvSpPr>
        <p:spPr>
          <a:xfrm>
            <a:off x="8138160" y="1463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Measurements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412480" y="21488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(percent)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5720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D1B2A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572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1em = 12pt = 16px = 100%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 Transforms</a:t>
            </a:r>
            <a:endParaRPr lang="en-US" sz="3000" dirty="0"/>
          </a:p>
        </p:txBody>
      </p:sp>
      <p:pic>
        <p:nvPicPr>
          <p:cNvPr id="5" name="Image 0" descr="icons/sync_F4A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CSS3 transform, we can move, scale, turn, spin, and stretch elements.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-840000">
            <a:off x="822960" y="210312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1B98A0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9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rotate()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920240"/>
            <a:ext cx="1371600" cy="1554480"/>
          </a:xfrm>
          <a:prstGeom prst="roundRect">
            <a:avLst>
              <a:gd name="adj" fmla="val 5333"/>
            </a:avLst>
          </a:prstGeom>
          <a:solidFill>
            <a:srgbClr val="F4A261"/>
          </a:solidFill>
          <a:ln/>
        </p:spPr>
      </p:sp>
      <p:sp>
        <p:nvSpPr>
          <p:cNvPr id="11" name="Text 8"/>
          <p:cNvSpPr/>
          <p:nvPr/>
        </p:nvSpPr>
        <p:spPr>
          <a:xfrm>
            <a:off x="315468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scale()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0" y="2103120"/>
            <a:ext cx="1828800" cy="1188720"/>
          </a:xfrm>
          <a:prstGeom prst="parallelogram">
            <a:avLst/>
          </a:prstGeom>
          <a:solidFill>
            <a:srgbClr val="6C8EBF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8E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skew()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863840" y="201168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■"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Support: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Explorer 9 requires the prefix -ms-.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requires the prefix -moz-.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and Safari require the prefix -webkit-.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requires the prefix -o-.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 Transforms — Properties</a:t>
            </a:r>
            <a:endParaRPr lang="en-US" sz="3000" dirty="0"/>
          </a:p>
        </p:txBody>
      </p:sp>
      <p:pic>
        <p:nvPicPr>
          <p:cNvPr id="5" name="Image 0" descr="icons/sync_F4A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a 2D or 3D transformation to an element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transform-origin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Allows you to change the position on transformed elements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 Transforms — 2D Methods</a:t>
            </a:r>
            <a:endParaRPr lang="en-US" sz="3000" dirty="0"/>
          </a:p>
        </p:txBody>
      </p:sp>
      <p:pic>
        <p:nvPicPr>
          <p:cNvPr id="5" name="Image 0" descr="icons/sync_F4A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translate(x,y)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the element along the X- and Y-axis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translateX(n)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the element along the X-axis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translateY(n)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the element along the Y-axis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scale(x,y)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the element's width and height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scaleX(n)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the element's width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scaleY(n)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the element's height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rotate(angle)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Rotates the element by the given angle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skew(x-angle,y-angle)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Skews the element along the X- and Y-axis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skewX(angle)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Skews the element along the X-axis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skewY(angle)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Skews the element along the Y-axis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matrix(n,n,n,n,n,n)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rotate, scale, translate and skew in one 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 Transition</a:t>
            </a:r>
            <a:endParaRPr lang="en-US" sz="3000" dirty="0"/>
          </a:p>
        </p:txBody>
      </p:sp>
      <p:pic>
        <p:nvPicPr>
          <p:cNvPr id="5" name="Image 0" descr="icons/clock_F4A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CSS3, we can add an effect when changing from one style to another, without using Flash animations or JavaScript.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194560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■"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Support: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Explorer does not yet support the transition property.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4 requires the prefix -moz-.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and Safari require the prefix -webkit-.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requires the prefix -o-.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766560" y="2194560"/>
            <a:ext cx="4846320" cy="2286000"/>
          </a:xfrm>
          <a:prstGeom prst="roundRect">
            <a:avLst>
              <a:gd name="adj" fmla="val 3200"/>
            </a:avLst>
          </a:prstGeom>
          <a:solidFill>
            <a:srgbClr val="0D1B2A"/>
          </a:solidFill>
          <a:ln w="12700">
            <a:solidFill>
              <a:srgbClr val="1B98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95160" y="237744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 {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100px;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 width 2s ease-in-out;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.box:hover {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300px;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66560" y="4572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example • Reference: w3schools.com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 Transition — Properties</a:t>
            </a:r>
            <a:endParaRPr lang="en-US" sz="3000" dirty="0"/>
          </a:p>
        </p:txBody>
      </p:sp>
      <p:pic>
        <p:nvPicPr>
          <p:cNvPr id="5" name="Image 0" descr="icons/clock_F4A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transition-property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Specifies the name of the CSS property the transition applies 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transition-duration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the length of time a transition takes. Default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transition-timing-function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speed is calculated: linear, ease, ease-in, ease-out, ease-in-out. Default "ease"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transition-delay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when the transition will start. Default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Shorthand for setting the four transition properties at once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 Animation</a:t>
            </a:r>
            <a:endParaRPr lang="en-US" sz="3000" dirty="0"/>
          </a:p>
        </p:txBody>
      </p:sp>
      <p:pic>
        <p:nvPicPr>
          <p:cNvPr id="5" name="Image 0" descr="icons/magic_F4A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CSS3, we can create animations, which can replace animated images, Flash animations, and JavaScript in many web pages.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28600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■"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Support: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Explorer does not yet support the @keyframes rule or the animation property.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requires the prefix -moz-, Chrome and Safari require -webkit-, and Opera requires -o-.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766560" y="2286000"/>
            <a:ext cx="4846320" cy="2377440"/>
          </a:xfrm>
          <a:prstGeom prst="roundRect">
            <a:avLst>
              <a:gd name="adj" fmla="val 3077"/>
            </a:avLst>
          </a:prstGeom>
          <a:solidFill>
            <a:srgbClr val="0D1B2A"/>
          </a:solidFill>
          <a:ln w="12700">
            <a:solidFill>
              <a:srgbClr val="1B98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95160" y="246888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mymove {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{ top: 0px; }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  { top: 200px; }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 {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animation: mymove 5s infinite;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66560" y="4754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example • Reference: w3schools.com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 Animation — Properties (1/2)</a:t>
            </a:r>
            <a:endParaRPr lang="en-US" sz="3000" dirty="0"/>
          </a:p>
        </p:txBody>
      </p:sp>
      <p:pic>
        <p:nvPicPr>
          <p:cNvPr id="5" name="Image 0" descr="icons/magic_F4A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@keyframes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Specifies when the change happens, in percent, or with "from"/"to" (same as 0% / 100%)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animation-name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Specifies the name of the @keyframes animation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animation-duration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Seconds/milliseconds an animation takes for one cycle. Default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animation-timing-function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animation progresses: linear, ease, ease-in, ease-out, ease-in-out. Default "ease"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 Animation — Properties (2/2)</a:t>
            </a:r>
            <a:endParaRPr lang="en-US" sz="3000" dirty="0"/>
          </a:p>
        </p:txBody>
      </p:sp>
      <p:pic>
        <p:nvPicPr>
          <p:cNvPr id="5" name="Image 0" descr="icons/magic_F4A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animation-iteration-count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times an animation plays. Default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animation-direction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(default) or Alternate (reverses on alternate cycles)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animation-play-state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Paused or Running. Default "running"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Shorthand for all animation properties except animation-play-state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 Multiple Columns</a:t>
            </a:r>
            <a:endParaRPr lang="en-US" sz="3000" dirty="0"/>
          </a:p>
        </p:txBody>
      </p:sp>
      <p:pic>
        <p:nvPicPr>
          <p:cNvPr id="5" name="Image 0" descr="icons/columns_F4A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CSS3, you can create multiple columns for laying out text — like in newspapers!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01168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■"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Support: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Explorer does not yet support the multiple columns properties.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requires the prefix -moz-.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and Safari require the prefix -webkit-.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949440" y="2011680"/>
            <a:ext cx="1417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59168" y="2194560"/>
            <a:ext cx="1197864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Shape 8"/>
          <p:cNvSpPr/>
          <p:nvPr/>
        </p:nvSpPr>
        <p:spPr>
          <a:xfrm>
            <a:off x="7059168" y="2651760"/>
            <a:ext cx="1197864" cy="109728"/>
          </a:xfrm>
          <a:prstGeom prst="rect">
            <a:avLst/>
          </a:prstGeom>
          <a:solidFill>
            <a:srgbClr val="D7DEE2"/>
          </a:solidFill>
          <a:ln/>
        </p:spPr>
      </p:sp>
      <p:sp>
        <p:nvSpPr>
          <p:cNvPr id="12" name="Shape 9"/>
          <p:cNvSpPr/>
          <p:nvPr/>
        </p:nvSpPr>
        <p:spPr>
          <a:xfrm>
            <a:off x="7059168" y="3108960"/>
            <a:ext cx="1197864" cy="109728"/>
          </a:xfrm>
          <a:prstGeom prst="rect">
            <a:avLst/>
          </a:prstGeom>
          <a:solidFill>
            <a:srgbClr val="D7DEE2"/>
          </a:solidFill>
          <a:ln/>
        </p:spPr>
      </p:sp>
      <p:sp>
        <p:nvSpPr>
          <p:cNvPr id="13" name="Shape 10"/>
          <p:cNvSpPr/>
          <p:nvPr/>
        </p:nvSpPr>
        <p:spPr>
          <a:xfrm>
            <a:off x="7059168" y="3566160"/>
            <a:ext cx="1197864" cy="109728"/>
          </a:xfrm>
          <a:prstGeom prst="rect">
            <a:avLst/>
          </a:prstGeom>
          <a:solidFill>
            <a:srgbClr val="D7DEE2"/>
          </a:solidFill>
          <a:ln/>
        </p:spPr>
      </p:sp>
      <p:sp>
        <p:nvSpPr>
          <p:cNvPr id="14" name="Shape 11"/>
          <p:cNvSpPr/>
          <p:nvPr/>
        </p:nvSpPr>
        <p:spPr>
          <a:xfrm>
            <a:off x="7059168" y="4023360"/>
            <a:ext cx="1197864" cy="109728"/>
          </a:xfrm>
          <a:prstGeom prst="rect">
            <a:avLst/>
          </a:prstGeom>
          <a:solidFill>
            <a:srgbClr val="D7DEE2"/>
          </a:solidFill>
          <a:ln/>
        </p:spPr>
      </p:sp>
      <p:sp>
        <p:nvSpPr>
          <p:cNvPr id="15" name="Shape 12"/>
          <p:cNvSpPr/>
          <p:nvPr/>
        </p:nvSpPr>
        <p:spPr>
          <a:xfrm>
            <a:off x="8595360" y="2011680"/>
            <a:ext cx="1417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05088" y="2194560"/>
            <a:ext cx="1197864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Shape 14"/>
          <p:cNvSpPr/>
          <p:nvPr/>
        </p:nvSpPr>
        <p:spPr>
          <a:xfrm>
            <a:off x="8705088" y="2651760"/>
            <a:ext cx="1197864" cy="109728"/>
          </a:xfrm>
          <a:prstGeom prst="rect">
            <a:avLst/>
          </a:prstGeom>
          <a:solidFill>
            <a:srgbClr val="D7DEE2"/>
          </a:solidFill>
          <a:ln/>
        </p:spPr>
      </p:sp>
      <p:sp>
        <p:nvSpPr>
          <p:cNvPr id="18" name="Shape 15"/>
          <p:cNvSpPr/>
          <p:nvPr/>
        </p:nvSpPr>
        <p:spPr>
          <a:xfrm>
            <a:off x="8705088" y="3108960"/>
            <a:ext cx="1197864" cy="109728"/>
          </a:xfrm>
          <a:prstGeom prst="rect">
            <a:avLst/>
          </a:prstGeom>
          <a:solidFill>
            <a:srgbClr val="D7DEE2"/>
          </a:solidFill>
          <a:ln/>
        </p:spPr>
      </p:sp>
      <p:sp>
        <p:nvSpPr>
          <p:cNvPr id="19" name="Shape 16"/>
          <p:cNvSpPr/>
          <p:nvPr/>
        </p:nvSpPr>
        <p:spPr>
          <a:xfrm>
            <a:off x="8705088" y="3566160"/>
            <a:ext cx="1197864" cy="109728"/>
          </a:xfrm>
          <a:prstGeom prst="rect">
            <a:avLst/>
          </a:prstGeom>
          <a:solidFill>
            <a:srgbClr val="D7DEE2"/>
          </a:solidFill>
          <a:ln/>
        </p:spPr>
      </p:sp>
      <p:sp>
        <p:nvSpPr>
          <p:cNvPr id="20" name="Shape 17"/>
          <p:cNvSpPr/>
          <p:nvPr/>
        </p:nvSpPr>
        <p:spPr>
          <a:xfrm>
            <a:off x="8705088" y="4023360"/>
            <a:ext cx="1197864" cy="109728"/>
          </a:xfrm>
          <a:prstGeom prst="rect">
            <a:avLst/>
          </a:prstGeom>
          <a:solidFill>
            <a:srgbClr val="D7DEE2"/>
          </a:solidFill>
          <a:ln/>
        </p:spPr>
      </p:sp>
      <p:sp>
        <p:nvSpPr>
          <p:cNvPr id="21" name="Shape 18"/>
          <p:cNvSpPr/>
          <p:nvPr/>
        </p:nvSpPr>
        <p:spPr>
          <a:xfrm>
            <a:off x="10241280" y="2011680"/>
            <a:ext cx="1417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351008" y="2194560"/>
            <a:ext cx="1197864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3" name="Shape 20"/>
          <p:cNvSpPr/>
          <p:nvPr/>
        </p:nvSpPr>
        <p:spPr>
          <a:xfrm>
            <a:off x="10351008" y="2651760"/>
            <a:ext cx="1197864" cy="109728"/>
          </a:xfrm>
          <a:prstGeom prst="rect">
            <a:avLst/>
          </a:prstGeom>
          <a:solidFill>
            <a:srgbClr val="D7DEE2"/>
          </a:solidFill>
          <a:ln/>
        </p:spPr>
      </p:sp>
      <p:sp>
        <p:nvSpPr>
          <p:cNvPr id="24" name="Shape 21"/>
          <p:cNvSpPr/>
          <p:nvPr/>
        </p:nvSpPr>
        <p:spPr>
          <a:xfrm>
            <a:off x="10351008" y="3108960"/>
            <a:ext cx="1197864" cy="109728"/>
          </a:xfrm>
          <a:prstGeom prst="rect">
            <a:avLst/>
          </a:prstGeom>
          <a:solidFill>
            <a:srgbClr val="D7DEE2"/>
          </a:solidFill>
          <a:ln/>
        </p:spPr>
      </p:sp>
      <p:sp>
        <p:nvSpPr>
          <p:cNvPr id="25" name="Shape 22"/>
          <p:cNvSpPr/>
          <p:nvPr/>
        </p:nvSpPr>
        <p:spPr>
          <a:xfrm>
            <a:off x="10351008" y="3566160"/>
            <a:ext cx="1197864" cy="109728"/>
          </a:xfrm>
          <a:prstGeom prst="rect">
            <a:avLst/>
          </a:prstGeom>
          <a:solidFill>
            <a:srgbClr val="D7DEE2"/>
          </a:solidFill>
          <a:ln/>
        </p:spPr>
      </p:sp>
      <p:sp>
        <p:nvSpPr>
          <p:cNvPr id="26" name="Shape 23"/>
          <p:cNvSpPr/>
          <p:nvPr/>
        </p:nvSpPr>
        <p:spPr>
          <a:xfrm>
            <a:off x="10351008" y="4023360"/>
            <a:ext cx="1197864" cy="109728"/>
          </a:xfrm>
          <a:prstGeom prst="rect">
            <a:avLst/>
          </a:prstGeom>
          <a:solidFill>
            <a:srgbClr val="D7DEE2"/>
          </a:solidFill>
          <a:ln/>
        </p:spPr>
      </p:sp>
      <p:sp>
        <p:nvSpPr>
          <p:cNvPr id="27" name="Shape 24"/>
          <p:cNvSpPr/>
          <p:nvPr/>
        </p:nvSpPr>
        <p:spPr>
          <a:xfrm>
            <a:off x="6949440" y="4892040"/>
            <a:ext cx="470916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2700">
            <a:solidFill>
              <a:srgbClr val="1B98A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78040" y="507492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column-count: 3;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B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column-gap: 20px;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949440" y="59436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example • Reference: w3schools.com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Columns — Properties (1/2)</a:t>
            </a:r>
            <a:endParaRPr lang="en-US" sz="3000" dirty="0"/>
          </a:p>
        </p:txBody>
      </p:sp>
      <p:pic>
        <p:nvPicPr>
          <p:cNvPr id="5" name="Image 0" descr="icons/columns_F4A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column-count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Specifies the number of columns an element should be divided into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column-fill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Specifies how to fill the 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column-gap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Specifies the gap between the 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column-rule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Shorthand for setting all the column-rule-* properties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column-rule-color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Specifies the color of the rule between 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Columns — Properties (2/2)</a:t>
            </a:r>
            <a:endParaRPr lang="en-US" sz="3000" dirty="0"/>
          </a:p>
        </p:txBody>
      </p:sp>
      <p:pic>
        <p:nvPicPr>
          <p:cNvPr id="5" name="Image 0" descr="icons/columns_F4A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column-rule-style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Specifies the style of the rule between 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column-rule-width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Specifies the width of the rule between 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column-span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Specifies how many columns an element should span across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column-width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Specifies the width of the 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Shorthand for setting column-width and column-count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pic>
        <p:nvPicPr>
          <p:cNvPr id="5" name="Image 0" descr="icons/check_F4A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4630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77340" y="1627632"/>
            <a:ext cx="640080" cy="640080"/>
          </a:xfrm>
          <a:prstGeom prst="ellipse">
            <a:avLst/>
          </a:prstGeom>
          <a:solidFill>
            <a:srgbClr val="1B98A0"/>
          </a:solidFill>
          <a:ln/>
        </p:spPr>
      </p:sp>
      <p:pic>
        <p:nvPicPr>
          <p:cNvPr id="9" name="Image 1" descr="icons/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959" y="1781251"/>
            <a:ext cx="332842" cy="332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383280" y="14630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366260" y="1627632"/>
            <a:ext cx="640080" cy="64008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13" name="Image 2" descr="icons/bord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879" y="1781251"/>
            <a:ext cx="332842" cy="33284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74720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Borders &amp; Fonts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172200" y="14630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155180" y="1627632"/>
            <a:ext cx="640080" cy="640080"/>
          </a:xfrm>
          <a:prstGeom prst="ellipse">
            <a:avLst/>
          </a:prstGeom>
          <a:solidFill>
            <a:srgbClr val="1B98A0"/>
          </a:solidFill>
          <a:ln/>
        </p:spPr>
      </p:sp>
      <p:pic>
        <p:nvPicPr>
          <p:cNvPr id="17" name="Image 3" descr="icons/rule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799" y="1781251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63640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Units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961120" y="14630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944100" y="1627632"/>
            <a:ext cx="640080" cy="64008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1" name="Image 4" descr="icons/sync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7719" y="1781251"/>
            <a:ext cx="332842" cy="33284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052560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594360" y="30632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1577340" y="3227832"/>
            <a:ext cx="640080" cy="640080"/>
          </a:xfrm>
          <a:prstGeom prst="ellipse">
            <a:avLst/>
          </a:prstGeom>
          <a:solidFill>
            <a:srgbClr val="1B98A0"/>
          </a:solidFill>
          <a:ln/>
        </p:spPr>
      </p:sp>
      <p:pic>
        <p:nvPicPr>
          <p:cNvPr id="25" name="Image 5" descr="icons/clo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0959" y="3381451"/>
            <a:ext cx="332842" cy="33284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5800" y="3931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3383280" y="30632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366260" y="3227832"/>
            <a:ext cx="640080" cy="64008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9" name="Image 6" descr="icons/magic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9879" y="3381451"/>
            <a:ext cx="332842" cy="33284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3474720" y="3931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6172200" y="30632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7155180" y="3227832"/>
            <a:ext cx="640080" cy="640080"/>
          </a:xfrm>
          <a:prstGeom prst="ellipse">
            <a:avLst/>
          </a:prstGeom>
          <a:solidFill>
            <a:srgbClr val="1B98A0"/>
          </a:solidFill>
          <a:ln/>
        </p:spPr>
      </p:sp>
      <p:pic>
        <p:nvPicPr>
          <p:cNvPr id="33" name="Image 7" descr="icons/columns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8799" y="3381451"/>
            <a:ext cx="332842" cy="33284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263640" y="3931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Columns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8961120" y="30632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9944100" y="3227832"/>
            <a:ext cx="640080" cy="64008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37" name="Image 8" descr="icons/globe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7719" y="3381451"/>
            <a:ext cx="332842" cy="33284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9052560" y="3931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Prefixes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5120640" cy="5120640"/>
          </a:xfrm>
          <a:prstGeom prst="ellipse">
            <a:avLst/>
          </a:prstGeom>
          <a:solidFill>
            <a:srgbClr val="1B98A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F4A261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097280"/>
            <a:ext cx="1371600" cy="137160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5" name="Image 0" descr="icons/questio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4" y="142646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834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&lt;Questions&gt; ? &lt;/Questions&gt;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3749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9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You…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2026-07-20T19:00:29Z</dcterms:created>
  <dcterms:modified xsi:type="dcterms:W3CDTF">2026-07-20T19:00:29Z</dcterms:modified>
</cp:coreProperties>
</file>